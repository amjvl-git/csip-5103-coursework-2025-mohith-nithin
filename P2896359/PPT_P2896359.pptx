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61" r:id="rId5"/>
    <p:sldId id="268" r:id="rId6"/>
    <p:sldId id="263" r:id="rId7"/>
    <p:sldId id="269" r:id="rId8"/>
    <p:sldId id="264" r:id="rId9"/>
    <p:sldId id="265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2"/>
  </p:normalViewPr>
  <p:slideViewPr>
    <p:cSldViewPr snapToGrid="0">
      <p:cViewPr>
        <p:scale>
          <a:sx n="96" d="100"/>
          <a:sy n="96" d="100"/>
        </p:scale>
        <p:origin x="11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9A72C2-CF6C-45D4-9CAD-32725C6BED4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34740E-4962-42C3-B9E9-0309EF3F1D67}">
      <dgm:prSet/>
      <dgm:spPr/>
      <dgm:t>
        <a:bodyPr/>
        <a:lstStyle/>
        <a:p>
          <a:r>
            <a:rPr lang="en-US"/>
            <a:t>Trained </a:t>
          </a:r>
          <a:r>
            <a:rPr lang="en-US" b="1"/>
            <a:t>ANN</a:t>
          </a:r>
          <a:r>
            <a:rPr lang="en-US"/>
            <a:t> and </a:t>
          </a:r>
          <a:r>
            <a:rPr lang="en-US" b="1"/>
            <a:t>CNN</a:t>
          </a:r>
          <a:r>
            <a:rPr lang="en-US"/>
            <a:t> separately for 15 epochs.</a:t>
          </a:r>
        </a:p>
      </dgm:t>
    </dgm:pt>
    <dgm:pt modelId="{695E6B0B-5DC3-4119-BC13-5F47206E47F6}" type="parTrans" cxnId="{8B9AF5B9-BF8F-405D-BA73-623611CAFED9}">
      <dgm:prSet/>
      <dgm:spPr/>
      <dgm:t>
        <a:bodyPr/>
        <a:lstStyle/>
        <a:p>
          <a:endParaRPr lang="en-US"/>
        </a:p>
      </dgm:t>
    </dgm:pt>
    <dgm:pt modelId="{F455AB05-88AE-4967-B122-D69E239C6A6E}" type="sibTrans" cxnId="{8B9AF5B9-BF8F-405D-BA73-623611CAFED9}">
      <dgm:prSet/>
      <dgm:spPr/>
      <dgm:t>
        <a:bodyPr/>
        <a:lstStyle/>
        <a:p>
          <a:endParaRPr lang="en-US"/>
        </a:p>
      </dgm:t>
    </dgm:pt>
    <dgm:pt modelId="{56CDE25C-D3C2-4B7B-8699-C2D0EB3695EB}">
      <dgm:prSet/>
      <dgm:spPr/>
      <dgm:t>
        <a:bodyPr/>
        <a:lstStyle/>
        <a:p>
          <a:r>
            <a:rPr lang="en-US"/>
            <a:t>Applied </a:t>
          </a:r>
          <a:r>
            <a:rPr lang="en-US" b="1"/>
            <a:t>XLA JIT</a:t>
          </a:r>
          <a:r>
            <a:rPr lang="en-US"/>
            <a:t> for faster computation.</a:t>
          </a:r>
        </a:p>
      </dgm:t>
    </dgm:pt>
    <dgm:pt modelId="{F3A3E817-2A8F-4D0D-946C-ADA86ACB41AE}" type="parTrans" cxnId="{F1A8C5DE-4CDC-42EE-8EC0-6824C910C7AD}">
      <dgm:prSet/>
      <dgm:spPr/>
      <dgm:t>
        <a:bodyPr/>
        <a:lstStyle/>
        <a:p>
          <a:endParaRPr lang="en-US"/>
        </a:p>
      </dgm:t>
    </dgm:pt>
    <dgm:pt modelId="{F60B3C3F-AB26-44BC-9BB1-FA1D2AE5D584}" type="sibTrans" cxnId="{F1A8C5DE-4CDC-42EE-8EC0-6824C910C7AD}">
      <dgm:prSet/>
      <dgm:spPr/>
      <dgm:t>
        <a:bodyPr/>
        <a:lstStyle/>
        <a:p>
          <a:endParaRPr lang="en-US"/>
        </a:p>
      </dgm:t>
    </dgm:pt>
    <dgm:pt modelId="{43F1B627-8AB8-4AD8-905E-902D0C8D675D}">
      <dgm:prSet/>
      <dgm:spPr/>
      <dgm:t>
        <a:bodyPr/>
        <a:lstStyle/>
        <a:p>
          <a:r>
            <a:rPr lang="en-US"/>
            <a:t>Used </a:t>
          </a:r>
          <a:r>
            <a:rPr lang="en-US" b="1"/>
            <a:t>validation accuracy</a:t>
          </a:r>
          <a:r>
            <a:rPr lang="en-US"/>
            <a:t> for model checkpointing.</a:t>
          </a:r>
        </a:p>
      </dgm:t>
    </dgm:pt>
    <dgm:pt modelId="{84A3F8B3-25B0-4B7F-B148-CB3F9A080A2E}" type="parTrans" cxnId="{032FF5BC-365F-4CA1-8CEA-EAAD76FB1847}">
      <dgm:prSet/>
      <dgm:spPr/>
      <dgm:t>
        <a:bodyPr/>
        <a:lstStyle/>
        <a:p>
          <a:endParaRPr lang="en-US"/>
        </a:p>
      </dgm:t>
    </dgm:pt>
    <dgm:pt modelId="{C94F7C64-129A-4DB0-B597-62057DFD4B5D}" type="sibTrans" cxnId="{032FF5BC-365F-4CA1-8CEA-EAAD76FB1847}">
      <dgm:prSet/>
      <dgm:spPr/>
      <dgm:t>
        <a:bodyPr/>
        <a:lstStyle/>
        <a:p>
          <a:endParaRPr lang="en-US"/>
        </a:p>
      </dgm:t>
    </dgm:pt>
    <dgm:pt modelId="{7D5A437A-4B7E-4648-BB66-A588870153E6}">
      <dgm:prSet/>
      <dgm:spPr/>
      <dgm:t>
        <a:bodyPr/>
        <a:lstStyle/>
        <a:p>
          <a:r>
            <a:rPr lang="en-US"/>
            <a:t>Generated plots for </a:t>
          </a:r>
          <a:r>
            <a:rPr lang="en-US" b="1"/>
            <a:t>loss/accuracy curves</a:t>
          </a:r>
          <a:r>
            <a:rPr lang="en-US"/>
            <a:t> and </a:t>
          </a:r>
          <a:r>
            <a:rPr lang="en-US" b="1"/>
            <a:t>confusion matrices</a:t>
          </a:r>
          <a:r>
            <a:rPr lang="en-US"/>
            <a:t>.</a:t>
          </a:r>
        </a:p>
      </dgm:t>
    </dgm:pt>
    <dgm:pt modelId="{599C2DA8-2487-4F6E-B068-5D5D7B26FF81}" type="parTrans" cxnId="{3A8D3F32-7DA5-4FED-BE15-B607AD4F6AF1}">
      <dgm:prSet/>
      <dgm:spPr/>
      <dgm:t>
        <a:bodyPr/>
        <a:lstStyle/>
        <a:p>
          <a:endParaRPr lang="en-US"/>
        </a:p>
      </dgm:t>
    </dgm:pt>
    <dgm:pt modelId="{7A078D83-C6BC-4BA2-B343-7A79B53B364B}" type="sibTrans" cxnId="{3A8D3F32-7DA5-4FED-BE15-B607AD4F6AF1}">
      <dgm:prSet/>
      <dgm:spPr/>
      <dgm:t>
        <a:bodyPr/>
        <a:lstStyle/>
        <a:p>
          <a:endParaRPr lang="en-US"/>
        </a:p>
      </dgm:t>
    </dgm:pt>
    <dgm:pt modelId="{764CFD31-645B-4277-9900-8B2D1D1D75EE}" type="pres">
      <dgm:prSet presAssocID="{739A72C2-CF6C-45D4-9CAD-32725C6BED40}" presName="root" presStyleCnt="0">
        <dgm:presLayoutVars>
          <dgm:dir/>
          <dgm:resizeHandles val="exact"/>
        </dgm:presLayoutVars>
      </dgm:prSet>
      <dgm:spPr/>
    </dgm:pt>
    <dgm:pt modelId="{5F107765-50B5-4429-BC2E-7509A426E9D8}" type="pres">
      <dgm:prSet presAssocID="{C234740E-4962-42C3-B9E9-0309EF3F1D67}" presName="compNode" presStyleCnt="0"/>
      <dgm:spPr/>
    </dgm:pt>
    <dgm:pt modelId="{04B3D81E-92E6-431B-BAB5-1C1FE772E861}" type="pres">
      <dgm:prSet presAssocID="{C234740E-4962-42C3-B9E9-0309EF3F1D67}" presName="bgRect" presStyleLbl="bgShp" presStyleIdx="0" presStyleCnt="4"/>
      <dgm:spPr/>
    </dgm:pt>
    <dgm:pt modelId="{EEAD20A2-3BB6-43BD-BAA7-E890C29B7444}" type="pres">
      <dgm:prSet presAssocID="{C234740E-4962-42C3-B9E9-0309EF3F1D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145CC229-039E-4AC6-854D-17A7C36C324F}" type="pres">
      <dgm:prSet presAssocID="{C234740E-4962-42C3-B9E9-0309EF3F1D67}" presName="spaceRect" presStyleCnt="0"/>
      <dgm:spPr/>
    </dgm:pt>
    <dgm:pt modelId="{CC0AAB57-AD8F-47A9-8224-F755E6E886CD}" type="pres">
      <dgm:prSet presAssocID="{C234740E-4962-42C3-B9E9-0309EF3F1D67}" presName="parTx" presStyleLbl="revTx" presStyleIdx="0" presStyleCnt="4">
        <dgm:presLayoutVars>
          <dgm:chMax val="0"/>
          <dgm:chPref val="0"/>
        </dgm:presLayoutVars>
      </dgm:prSet>
      <dgm:spPr/>
    </dgm:pt>
    <dgm:pt modelId="{5D632356-F03F-43DD-8919-CB3821736361}" type="pres">
      <dgm:prSet presAssocID="{F455AB05-88AE-4967-B122-D69E239C6A6E}" presName="sibTrans" presStyleCnt="0"/>
      <dgm:spPr/>
    </dgm:pt>
    <dgm:pt modelId="{C48BB3AC-53AA-4BCA-B25F-9632F0AA8D2B}" type="pres">
      <dgm:prSet presAssocID="{56CDE25C-D3C2-4B7B-8699-C2D0EB3695EB}" presName="compNode" presStyleCnt="0"/>
      <dgm:spPr/>
    </dgm:pt>
    <dgm:pt modelId="{054B2A92-FC58-466C-AF76-9C9D51932CAB}" type="pres">
      <dgm:prSet presAssocID="{56CDE25C-D3C2-4B7B-8699-C2D0EB3695EB}" presName="bgRect" presStyleLbl="bgShp" presStyleIdx="1" presStyleCnt="4"/>
      <dgm:spPr/>
    </dgm:pt>
    <dgm:pt modelId="{405C1118-EA87-4F51-913D-2F36BAB16ED7}" type="pres">
      <dgm:prSet presAssocID="{56CDE25C-D3C2-4B7B-8699-C2D0EB3695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A38A4D9-3CD4-456A-91FF-C4A68EEB1B38}" type="pres">
      <dgm:prSet presAssocID="{56CDE25C-D3C2-4B7B-8699-C2D0EB3695EB}" presName="spaceRect" presStyleCnt="0"/>
      <dgm:spPr/>
    </dgm:pt>
    <dgm:pt modelId="{AADA8A37-801D-48B9-B2D0-B6D98E388D9B}" type="pres">
      <dgm:prSet presAssocID="{56CDE25C-D3C2-4B7B-8699-C2D0EB3695EB}" presName="parTx" presStyleLbl="revTx" presStyleIdx="1" presStyleCnt="4">
        <dgm:presLayoutVars>
          <dgm:chMax val="0"/>
          <dgm:chPref val="0"/>
        </dgm:presLayoutVars>
      </dgm:prSet>
      <dgm:spPr/>
    </dgm:pt>
    <dgm:pt modelId="{ABD7E483-417F-41E3-9917-9B3BDE80F5BB}" type="pres">
      <dgm:prSet presAssocID="{F60B3C3F-AB26-44BC-9BB1-FA1D2AE5D584}" presName="sibTrans" presStyleCnt="0"/>
      <dgm:spPr/>
    </dgm:pt>
    <dgm:pt modelId="{1A425636-FE31-47A1-B9B2-C310F8AAE096}" type="pres">
      <dgm:prSet presAssocID="{43F1B627-8AB8-4AD8-905E-902D0C8D675D}" presName="compNode" presStyleCnt="0"/>
      <dgm:spPr/>
    </dgm:pt>
    <dgm:pt modelId="{53567CA1-016D-423A-BD57-266624992475}" type="pres">
      <dgm:prSet presAssocID="{43F1B627-8AB8-4AD8-905E-902D0C8D675D}" presName="bgRect" presStyleLbl="bgShp" presStyleIdx="2" presStyleCnt="4"/>
      <dgm:spPr/>
    </dgm:pt>
    <dgm:pt modelId="{5E58EC4F-ACA3-412F-B9B0-19E2C0C2F5F3}" type="pres">
      <dgm:prSet presAssocID="{43F1B627-8AB8-4AD8-905E-902D0C8D675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880CBA1-8DD0-4A9C-9ED4-3F53390FE136}" type="pres">
      <dgm:prSet presAssocID="{43F1B627-8AB8-4AD8-905E-902D0C8D675D}" presName="spaceRect" presStyleCnt="0"/>
      <dgm:spPr/>
    </dgm:pt>
    <dgm:pt modelId="{2ADF8CB0-5468-4D51-958B-F328D0AA6702}" type="pres">
      <dgm:prSet presAssocID="{43F1B627-8AB8-4AD8-905E-902D0C8D675D}" presName="parTx" presStyleLbl="revTx" presStyleIdx="2" presStyleCnt="4">
        <dgm:presLayoutVars>
          <dgm:chMax val="0"/>
          <dgm:chPref val="0"/>
        </dgm:presLayoutVars>
      </dgm:prSet>
      <dgm:spPr/>
    </dgm:pt>
    <dgm:pt modelId="{45EEAB12-0758-4608-A48C-EDA9A2222260}" type="pres">
      <dgm:prSet presAssocID="{C94F7C64-129A-4DB0-B597-62057DFD4B5D}" presName="sibTrans" presStyleCnt="0"/>
      <dgm:spPr/>
    </dgm:pt>
    <dgm:pt modelId="{7C6CE3C1-5C31-493C-AE1C-7493BB630403}" type="pres">
      <dgm:prSet presAssocID="{7D5A437A-4B7E-4648-BB66-A588870153E6}" presName="compNode" presStyleCnt="0"/>
      <dgm:spPr/>
    </dgm:pt>
    <dgm:pt modelId="{FB5D521E-6CE1-49CE-AB11-E77A805B1B80}" type="pres">
      <dgm:prSet presAssocID="{7D5A437A-4B7E-4648-BB66-A588870153E6}" presName="bgRect" presStyleLbl="bgShp" presStyleIdx="3" presStyleCnt="4"/>
      <dgm:spPr/>
    </dgm:pt>
    <dgm:pt modelId="{3765A12B-63F8-4A70-B394-6B26C5E30514}" type="pres">
      <dgm:prSet presAssocID="{7D5A437A-4B7E-4648-BB66-A588870153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383E469-3498-45B7-B6FD-47FCB5629D2A}" type="pres">
      <dgm:prSet presAssocID="{7D5A437A-4B7E-4648-BB66-A588870153E6}" presName="spaceRect" presStyleCnt="0"/>
      <dgm:spPr/>
    </dgm:pt>
    <dgm:pt modelId="{DF2839E2-D375-4A7B-8E20-FBE476B478F1}" type="pres">
      <dgm:prSet presAssocID="{7D5A437A-4B7E-4648-BB66-A588870153E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56D7527-5185-40DB-9398-6A21C804C853}" type="presOf" srcId="{7D5A437A-4B7E-4648-BB66-A588870153E6}" destId="{DF2839E2-D375-4A7B-8E20-FBE476B478F1}" srcOrd="0" destOrd="0" presId="urn:microsoft.com/office/officeart/2018/2/layout/IconVerticalSolidList"/>
    <dgm:cxn modelId="{3A8D3F32-7DA5-4FED-BE15-B607AD4F6AF1}" srcId="{739A72C2-CF6C-45D4-9CAD-32725C6BED40}" destId="{7D5A437A-4B7E-4648-BB66-A588870153E6}" srcOrd="3" destOrd="0" parTransId="{599C2DA8-2487-4F6E-B068-5D5D7B26FF81}" sibTransId="{7A078D83-C6BC-4BA2-B343-7A79B53B364B}"/>
    <dgm:cxn modelId="{C12B7A84-77A3-4DB5-9F47-76A0348C0026}" type="presOf" srcId="{56CDE25C-D3C2-4B7B-8699-C2D0EB3695EB}" destId="{AADA8A37-801D-48B9-B2D0-B6D98E388D9B}" srcOrd="0" destOrd="0" presId="urn:microsoft.com/office/officeart/2018/2/layout/IconVerticalSolidList"/>
    <dgm:cxn modelId="{1EA9E6AB-3D28-48B8-97A4-E8744B4D8C29}" type="presOf" srcId="{739A72C2-CF6C-45D4-9CAD-32725C6BED40}" destId="{764CFD31-645B-4277-9900-8B2D1D1D75EE}" srcOrd="0" destOrd="0" presId="urn:microsoft.com/office/officeart/2018/2/layout/IconVerticalSolidList"/>
    <dgm:cxn modelId="{8B9AF5B9-BF8F-405D-BA73-623611CAFED9}" srcId="{739A72C2-CF6C-45D4-9CAD-32725C6BED40}" destId="{C234740E-4962-42C3-B9E9-0309EF3F1D67}" srcOrd="0" destOrd="0" parTransId="{695E6B0B-5DC3-4119-BC13-5F47206E47F6}" sibTransId="{F455AB05-88AE-4967-B122-D69E239C6A6E}"/>
    <dgm:cxn modelId="{032FF5BC-365F-4CA1-8CEA-EAAD76FB1847}" srcId="{739A72C2-CF6C-45D4-9CAD-32725C6BED40}" destId="{43F1B627-8AB8-4AD8-905E-902D0C8D675D}" srcOrd="2" destOrd="0" parTransId="{84A3F8B3-25B0-4B7F-B148-CB3F9A080A2E}" sibTransId="{C94F7C64-129A-4DB0-B597-62057DFD4B5D}"/>
    <dgm:cxn modelId="{C9FE4AD4-C074-453E-8366-36A766FD0BAE}" type="presOf" srcId="{C234740E-4962-42C3-B9E9-0309EF3F1D67}" destId="{CC0AAB57-AD8F-47A9-8224-F755E6E886CD}" srcOrd="0" destOrd="0" presId="urn:microsoft.com/office/officeart/2018/2/layout/IconVerticalSolidList"/>
    <dgm:cxn modelId="{F1A8C5DE-4CDC-42EE-8EC0-6824C910C7AD}" srcId="{739A72C2-CF6C-45D4-9CAD-32725C6BED40}" destId="{56CDE25C-D3C2-4B7B-8699-C2D0EB3695EB}" srcOrd="1" destOrd="0" parTransId="{F3A3E817-2A8F-4D0D-946C-ADA86ACB41AE}" sibTransId="{F60B3C3F-AB26-44BC-9BB1-FA1D2AE5D584}"/>
    <dgm:cxn modelId="{AA36F5F3-637E-4CF5-8449-33F2DA639273}" type="presOf" srcId="{43F1B627-8AB8-4AD8-905E-902D0C8D675D}" destId="{2ADF8CB0-5468-4D51-958B-F328D0AA6702}" srcOrd="0" destOrd="0" presId="urn:microsoft.com/office/officeart/2018/2/layout/IconVerticalSolidList"/>
    <dgm:cxn modelId="{3A7EEC8E-25B5-4E31-A5B5-319AB560D2F7}" type="presParOf" srcId="{764CFD31-645B-4277-9900-8B2D1D1D75EE}" destId="{5F107765-50B5-4429-BC2E-7509A426E9D8}" srcOrd="0" destOrd="0" presId="urn:microsoft.com/office/officeart/2018/2/layout/IconVerticalSolidList"/>
    <dgm:cxn modelId="{FF3C5CB9-8A80-48BC-BFF4-DBEB4CD2917F}" type="presParOf" srcId="{5F107765-50B5-4429-BC2E-7509A426E9D8}" destId="{04B3D81E-92E6-431B-BAB5-1C1FE772E861}" srcOrd="0" destOrd="0" presId="urn:microsoft.com/office/officeart/2018/2/layout/IconVerticalSolidList"/>
    <dgm:cxn modelId="{024B80DB-F30B-495D-956A-976640C5E2E6}" type="presParOf" srcId="{5F107765-50B5-4429-BC2E-7509A426E9D8}" destId="{EEAD20A2-3BB6-43BD-BAA7-E890C29B7444}" srcOrd="1" destOrd="0" presId="urn:microsoft.com/office/officeart/2018/2/layout/IconVerticalSolidList"/>
    <dgm:cxn modelId="{37BC4E1C-B107-492E-9A90-6495C08C6C74}" type="presParOf" srcId="{5F107765-50B5-4429-BC2E-7509A426E9D8}" destId="{145CC229-039E-4AC6-854D-17A7C36C324F}" srcOrd="2" destOrd="0" presId="urn:microsoft.com/office/officeart/2018/2/layout/IconVerticalSolidList"/>
    <dgm:cxn modelId="{3D55E595-F872-4BF4-8860-FC14E3011557}" type="presParOf" srcId="{5F107765-50B5-4429-BC2E-7509A426E9D8}" destId="{CC0AAB57-AD8F-47A9-8224-F755E6E886CD}" srcOrd="3" destOrd="0" presId="urn:microsoft.com/office/officeart/2018/2/layout/IconVerticalSolidList"/>
    <dgm:cxn modelId="{826FDA64-7126-484A-B55F-A3EC341BA813}" type="presParOf" srcId="{764CFD31-645B-4277-9900-8B2D1D1D75EE}" destId="{5D632356-F03F-43DD-8919-CB3821736361}" srcOrd="1" destOrd="0" presId="urn:microsoft.com/office/officeart/2018/2/layout/IconVerticalSolidList"/>
    <dgm:cxn modelId="{F5D8F2D5-A598-4A29-A716-4950716C6381}" type="presParOf" srcId="{764CFD31-645B-4277-9900-8B2D1D1D75EE}" destId="{C48BB3AC-53AA-4BCA-B25F-9632F0AA8D2B}" srcOrd="2" destOrd="0" presId="urn:microsoft.com/office/officeart/2018/2/layout/IconVerticalSolidList"/>
    <dgm:cxn modelId="{987991D9-6AEA-4728-ACD0-2A98B6070838}" type="presParOf" srcId="{C48BB3AC-53AA-4BCA-B25F-9632F0AA8D2B}" destId="{054B2A92-FC58-466C-AF76-9C9D51932CAB}" srcOrd="0" destOrd="0" presId="urn:microsoft.com/office/officeart/2018/2/layout/IconVerticalSolidList"/>
    <dgm:cxn modelId="{AC9CAA8C-70B1-45F4-AABD-50E4BC11646F}" type="presParOf" srcId="{C48BB3AC-53AA-4BCA-B25F-9632F0AA8D2B}" destId="{405C1118-EA87-4F51-913D-2F36BAB16ED7}" srcOrd="1" destOrd="0" presId="urn:microsoft.com/office/officeart/2018/2/layout/IconVerticalSolidList"/>
    <dgm:cxn modelId="{4683439C-FFE2-43A0-851E-B2F8E65CA37F}" type="presParOf" srcId="{C48BB3AC-53AA-4BCA-B25F-9632F0AA8D2B}" destId="{8A38A4D9-3CD4-456A-91FF-C4A68EEB1B38}" srcOrd="2" destOrd="0" presId="urn:microsoft.com/office/officeart/2018/2/layout/IconVerticalSolidList"/>
    <dgm:cxn modelId="{5C168AB1-1207-4DAD-ACF4-709FC42C7FA9}" type="presParOf" srcId="{C48BB3AC-53AA-4BCA-B25F-9632F0AA8D2B}" destId="{AADA8A37-801D-48B9-B2D0-B6D98E388D9B}" srcOrd="3" destOrd="0" presId="urn:microsoft.com/office/officeart/2018/2/layout/IconVerticalSolidList"/>
    <dgm:cxn modelId="{899D4F67-F69C-4348-8C4F-EB390DE8C8CD}" type="presParOf" srcId="{764CFD31-645B-4277-9900-8B2D1D1D75EE}" destId="{ABD7E483-417F-41E3-9917-9B3BDE80F5BB}" srcOrd="3" destOrd="0" presId="urn:microsoft.com/office/officeart/2018/2/layout/IconVerticalSolidList"/>
    <dgm:cxn modelId="{6FA7B998-90FB-4CF6-A805-0EC25CB36768}" type="presParOf" srcId="{764CFD31-645B-4277-9900-8B2D1D1D75EE}" destId="{1A425636-FE31-47A1-B9B2-C310F8AAE096}" srcOrd="4" destOrd="0" presId="urn:microsoft.com/office/officeart/2018/2/layout/IconVerticalSolidList"/>
    <dgm:cxn modelId="{C9CB25F9-F140-4D40-B459-F7FAB609F3B2}" type="presParOf" srcId="{1A425636-FE31-47A1-B9B2-C310F8AAE096}" destId="{53567CA1-016D-423A-BD57-266624992475}" srcOrd="0" destOrd="0" presId="urn:microsoft.com/office/officeart/2018/2/layout/IconVerticalSolidList"/>
    <dgm:cxn modelId="{D80EC6DF-C728-4820-A5C0-730A255EFA7D}" type="presParOf" srcId="{1A425636-FE31-47A1-B9B2-C310F8AAE096}" destId="{5E58EC4F-ACA3-412F-B9B0-19E2C0C2F5F3}" srcOrd="1" destOrd="0" presId="urn:microsoft.com/office/officeart/2018/2/layout/IconVerticalSolidList"/>
    <dgm:cxn modelId="{32EE4019-709B-4DCD-AD88-E9953469D047}" type="presParOf" srcId="{1A425636-FE31-47A1-B9B2-C310F8AAE096}" destId="{5880CBA1-8DD0-4A9C-9ED4-3F53390FE136}" srcOrd="2" destOrd="0" presId="urn:microsoft.com/office/officeart/2018/2/layout/IconVerticalSolidList"/>
    <dgm:cxn modelId="{E80CAE84-8342-4791-B3DB-375DDE2462F8}" type="presParOf" srcId="{1A425636-FE31-47A1-B9B2-C310F8AAE096}" destId="{2ADF8CB0-5468-4D51-958B-F328D0AA6702}" srcOrd="3" destOrd="0" presId="urn:microsoft.com/office/officeart/2018/2/layout/IconVerticalSolidList"/>
    <dgm:cxn modelId="{C625BC8E-48B1-4FC8-B11A-A7C549E143A2}" type="presParOf" srcId="{764CFD31-645B-4277-9900-8B2D1D1D75EE}" destId="{45EEAB12-0758-4608-A48C-EDA9A2222260}" srcOrd="5" destOrd="0" presId="urn:microsoft.com/office/officeart/2018/2/layout/IconVerticalSolidList"/>
    <dgm:cxn modelId="{B4A7E20B-91D5-4F61-B403-1B6A191C8B66}" type="presParOf" srcId="{764CFD31-645B-4277-9900-8B2D1D1D75EE}" destId="{7C6CE3C1-5C31-493C-AE1C-7493BB630403}" srcOrd="6" destOrd="0" presId="urn:microsoft.com/office/officeart/2018/2/layout/IconVerticalSolidList"/>
    <dgm:cxn modelId="{63894582-7D72-4DEE-BF22-B0EF0DE00590}" type="presParOf" srcId="{7C6CE3C1-5C31-493C-AE1C-7493BB630403}" destId="{FB5D521E-6CE1-49CE-AB11-E77A805B1B80}" srcOrd="0" destOrd="0" presId="urn:microsoft.com/office/officeart/2018/2/layout/IconVerticalSolidList"/>
    <dgm:cxn modelId="{504453B9-7286-47D1-A1C4-4BA5DED841AE}" type="presParOf" srcId="{7C6CE3C1-5C31-493C-AE1C-7493BB630403}" destId="{3765A12B-63F8-4A70-B394-6B26C5E30514}" srcOrd="1" destOrd="0" presId="urn:microsoft.com/office/officeart/2018/2/layout/IconVerticalSolidList"/>
    <dgm:cxn modelId="{1CFDF60B-B8B0-4BDC-81BA-3D5D1C2ACB04}" type="presParOf" srcId="{7C6CE3C1-5C31-493C-AE1C-7493BB630403}" destId="{3383E469-3498-45B7-B6FD-47FCB5629D2A}" srcOrd="2" destOrd="0" presId="urn:microsoft.com/office/officeart/2018/2/layout/IconVerticalSolidList"/>
    <dgm:cxn modelId="{F5B536A4-DDE0-4759-8A4C-78AED7CDF489}" type="presParOf" srcId="{7C6CE3C1-5C31-493C-AE1C-7493BB630403}" destId="{DF2839E2-D375-4A7B-8E20-FBE476B478F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2555AD-3183-4905-943D-B4C028149C4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D791439-B3EF-4EE6-BAAB-34F3DA18AB11}">
      <dgm:prSet/>
      <dgm:spPr/>
      <dgm:t>
        <a:bodyPr/>
        <a:lstStyle/>
        <a:p>
          <a:r>
            <a:rPr lang="en-US" b="1"/>
            <a:t>ANN:</a:t>
          </a:r>
          <a:r>
            <a:rPr lang="en-US"/>
            <a:t> Captured generalised patterns but struggled with fine visual differences.</a:t>
          </a:r>
        </a:p>
      </dgm:t>
    </dgm:pt>
    <dgm:pt modelId="{E289745C-575B-4BD9-B560-04B6316774AE}" type="parTrans" cxnId="{371EE227-E089-49BA-A961-4A125076D4A6}">
      <dgm:prSet/>
      <dgm:spPr/>
      <dgm:t>
        <a:bodyPr/>
        <a:lstStyle/>
        <a:p>
          <a:endParaRPr lang="en-US"/>
        </a:p>
      </dgm:t>
    </dgm:pt>
    <dgm:pt modelId="{CCD7DC80-D888-4954-8618-07C61735940C}" type="sibTrans" cxnId="{371EE227-E089-49BA-A961-4A125076D4A6}">
      <dgm:prSet/>
      <dgm:spPr/>
      <dgm:t>
        <a:bodyPr/>
        <a:lstStyle/>
        <a:p>
          <a:endParaRPr lang="en-US"/>
        </a:p>
      </dgm:t>
    </dgm:pt>
    <dgm:pt modelId="{308F1F9E-5611-4C37-945F-7A3389B0348A}">
      <dgm:prSet/>
      <dgm:spPr/>
      <dgm:t>
        <a:bodyPr/>
        <a:lstStyle/>
        <a:p>
          <a:r>
            <a:rPr lang="en-US" b="1"/>
            <a:t>CNN:</a:t>
          </a:r>
          <a:r>
            <a:rPr lang="en-US"/>
            <a:t> Excelled at spatial feature extraction and visual detail.</a:t>
          </a:r>
        </a:p>
      </dgm:t>
    </dgm:pt>
    <dgm:pt modelId="{0E0F7813-78BF-4CE0-910A-5587B0CF39F6}" type="parTrans" cxnId="{0B406D86-16A5-4C4D-BE17-028512FFC6CF}">
      <dgm:prSet/>
      <dgm:spPr/>
      <dgm:t>
        <a:bodyPr/>
        <a:lstStyle/>
        <a:p>
          <a:endParaRPr lang="en-US"/>
        </a:p>
      </dgm:t>
    </dgm:pt>
    <dgm:pt modelId="{3B33B84B-1D4F-4046-A025-5660051E2B6B}" type="sibTrans" cxnId="{0B406D86-16A5-4C4D-BE17-028512FFC6CF}">
      <dgm:prSet/>
      <dgm:spPr/>
      <dgm:t>
        <a:bodyPr/>
        <a:lstStyle/>
        <a:p>
          <a:endParaRPr lang="en-US"/>
        </a:p>
      </dgm:t>
    </dgm:pt>
    <dgm:pt modelId="{37A017BF-161B-4475-BFD4-1DE9ACE393A3}">
      <dgm:prSet/>
      <dgm:spPr/>
      <dgm:t>
        <a:bodyPr/>
        <a:lstStyle/>
        <a:p>
          <a:r>
            <a:rPr lang="en-US" b="1"/>
            <a:t>ADNEI:</a:t>
          </a:r>
          <a:r>
            <a:rPr lang="en-US"/>
            <a:t> Combined both strengths → improved reliability and reduced error rate.</a:t>
          </a:r>
        </a:p>
      </dgm:t>
    </dgm:pt>
    <dgm:pt modelId="{1F654E1E-4144-4954-BBAE-A758D7C8094B}" type="parTrans" cxnId="{154074A0-10C9-424A-87D4-43820EDBE25E}">
      <dgm:prSet/>
      <dgm:spPr/>
      <dgm:t>
        <a:bodyPr/>
        <a:lstStyle/>
        <a:p>
          <a:endParaRPr lang="en-US"/>
        </a:p>
      </dgm:t>
    </dgm:pt>
    <dgm:pt modelId="{32AEF805-62AC-4120-B27C-83E75B4D3D80}" type="sibTrans" cxnId="{154074A0-10C9-424A-87D4-43820EDBE25E}">
      <dgm:prSet/>
      <dgm:spPr/>
      <dgm:t>
        <a:bodyPr/>
        <a:lstStyle/>
        <a:p>
          <a:endParaRPr lang="en-US"/>
        </a:p>
      </dgm:t>
    </dgm:pt>
    <dgm:pt modelId="{A40540D7-6896-4FB2-BA19-FB191C06E3F2}">
      <dgm:prSet/>
      <dgm:spPr/>
      <dgm:t>
        <a:bodyPr/>
        <a:lstStyle/>
        <a:p>
          <a:r>
            <a:rPr lang="en-US"/>
            <a:t>Ensemble results demonstrate how </a:t>
          </a:r>
          <a:r>
            <a:rPr lang="en-US" b="1"/>
            <a:t>hybrid deep learning</a:t>
          </a:r>
          <a:r>
            <a:rPr lang="en-US"/>
            <a:t> enhances accuracy and stability.</a:t>
          </a:r>
        </a:p>
      </dgm:t>
    </dgm:pt>
    <dgm:pt modelId="{4098C2D9-179B-4BFA-8F6C-4452BC1AE11F}" type="parTrans" cxnId="{4DF7D31D-21EF-468B-9D99-24F9D17E1E48}">
      <dgm:prSet/>
      <dgm:spPr/>
      <dgm:t>
        <a:bodyPr/>
        <a:lstStyle/>
        <a:p>
          <a:endParaRPr lang="en-US"/>
        </a:p>
      </dgm:t>
    </dgm:pt>
    <dgm:pt modelId="{14CE287A-9766-483E-A7C0-813DCA3AD564}" type="sibTrans" cxnId="{4DF7D31D-21EF-468B-9D99-24F9D17E1E48}">
      <dgm:prSet/>
      <dgm:spPr/>
      <dgm:t>
        <a:bodyPr/>
        <a:lstStyle/>
        <a:p>
          <a:endParaRPr lang="en-US"/>
        </a:p>
      </dgm:t>
    </dgm:pt>
    <dgm:pt modelId="{796D0228-B3B3-6544-BC37-608039A12C8F}" type="pres">
      <dgm:prSet presAssocID="{872555AD-3183-4905-943D-B4C028149C46}" presName="Name0" presStyleCnt="0">
        <dgm:presLayoutVars>
          <dgm:dir/>
          <dgm:animLvl val="lvl"/>
          <dgm:resizeHandles val="exact"/>
        </dgm:presLayoutVars>
      </dgm:prSet>
      <dgm:spPr/>
    </dgm:pt>
    <dgm:pt modelId="{58EB60D8-DAF4-0C4A-B24B-342157AECAFD}" type="pres">
      <dgm:prSet presAssocID="{0D791439-B3EF-4EE6-BAAB-34F3DA18AB11}" presName="linNode" presStyleCnt="0"/>
      <dgm:spPr/>
    </dgm:pt>
    <dgm:pt modelId="{5223607F-65C5-1246-A0FF-6B3426FB92CC}" type="pres">
      <dgm:prSet presAssocID="{0D791439-B3EF-4EE6-BAAB-34F3DA18AB1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98CFB2B-5137-D34B-84E8-6FE92EA1FD2F}" type="pres">
      <dgm:prSet presAssocID="{CCD7DC80-D888-4954-8618-07C61735940C}" presName="sp" presStyleCnt="0"/>
      <dgm:spPr/>
    </dgm:pt>
    <dgm:pt modelId="{BB39F68F-AD55-3A44-AC88-6921A0A181B5}" type="pres">
      <dgm:prSet presAssocID="{308F1F9E-5611-4C37-945F-7A3389B0348A}" presName="linNode" presStyleCnt="0"/>
      <dgm:spPr/>
    </dgm:pt>
    <dgm:pt modelId="{ADB4B613-7A4C-2C45-A59C-FE0DB28DA7FD}" type="pres">
      <dgm:prSet presAssocID="{308F1F9E-5611-4C37-945F-7A3389B0348A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E904475-E766-3B41-AACC-5377AC163B51}" type="pres">
      <dgm:prSet presAssocID="{3B33B84B-1D4F-4046-A025-5660051E2B6B}" presName="sp" presStyleCnt="0"/>
      <dgm:spPr/>
    </dgm:pt>
    <dgm:pt modelId="{A6CFB694-1C7F-DA4E-96A4-D210E2A0BF16}" type="pres">
      <dgm:prSet presAssocID="{37A017BF-161B-4475-BFD4-1DE9ACE393A3}" presName="linNode" presStyleCnt="0"/>
      <dgm:spPr/>
    </dgm:pt>
    <dgm:pt modelId="{14A68E11-EB6E-A84C-9505-8166F366BE4C}" type="pres">
      <dgm:prSet presAssocID="{37A017BF-161B-4475-BFD4-1DE9ACE393A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6882296-A6EF-E045-8F65-C6E9E81839D6}" type="pres">
      <dgm:prSet presAssocID="{32AEF805-62AC-4120-B27C-83E75B4D3D80}" presName="sp" presStyleCnt="0"/>
      <dgm:spPr/>
    </dgm:pt>
    <dgm:pt modelId="{A8C4615D-C0CF-D64E-8F5E-3225318134DD}" type="pres">
      <dgm:prSet presAssocID="{A40540D7-6896-4FB2-BA19-FB191C06E3F2}" presName="linNode" presStyleCnt="0"/>
      <dgm:spPr/>
    </dgm:pt>
    <dgm:pt modelId="{59673D5F-90A4-CD45-8119-439DED256DD4}" type="pres">
      <dgm:prSet presAssocID="{A40540D7-6896-4FB2-BA19-FB191C06E3F2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4DF7D31D-21EF-468B-9D99-24F9D17E1E48}" srcId="{872555AD-3183-4905-943D-B4C028149C46}" destId="{A40540D7-6896-4FB2-BA19-FB191C06E3F2}" srcOrd="3" destOrd="0" parTransId="{4098C2D9-179B-4BFA-8F6C-4452BC1AE11F}" sibTransId="{14CE287A-9766-483E-A7C0-813DCA3AD564}"/>
    <dgm:cxn modelId="{371EE227-E089-49BA-A961-4A125076D4A6}" srcId="{872555AD-3183-4905-943D-B4C028149C46}" destId="{0D791439-B3EF-4EE6-BAAB-34F3DA18AB11}" srcOrd="0" destOrd="0" parTransId="{E289745C-575B-4BD9-B560-04B6316774AE}" sibTransId="{CCD7DC80-D888-4954-8618-07C61735940C}"/>
    <dgm:cxn modelId="{F861663C-E3E7-6B46-9416-B4011DD95C60}" type="presOf" srcId="{308F1F9E-5611-4C37-945F-7A3389B0348A}" destId="{ADB4B613-7A4C-2C45-A59C-FE0DB28DA7FD}" srcOrd="0" destOrd="0" presId="urn:microsoft.com/office/officeart/2005/8/layout/vList5"/>
    <dgm:cxn modelId="{C2253647-2F96-374C-A285-82A247EC1696}" type="presOf" srcId="{0D791439-B3EF-4EE6-BAAB-34F3DA18AB11}" destId="{5223607F-65C5-1246-A0FF-6B3426FB92CC}" srcOrd="0" destOrd="0" presId="urn:microsoft.com/office/officeart/2005/8/layout/vList5"/>
    <dgm:cxn modelId="{1B010B4D-D791-6E44-905B-9DC854C88331}" type="presOf" srcId="{A40540D7-6896-4FB2-BA19-FB191C06E3F2}" destId="{59673D5F-90A4-CD45-8119-439DED256DD4}" srcOrd="0" destOrd="0" presId="urn:microsoft.com/office/officeart/2005/8/layout/vList5"/>
    <dgm:cxn modelId="{2C672B64-7844-7F40-B33D-78CC95E58871}" type="presOf" srcId="{872555AD-3183-4905-943D-B4C028149C46}" destId="{796D0228-B3B3-6544-BC37-608039A12C8F}" srcOrd="0" destOrd="0" presId="urn:microsoft.com/office/officeart/2005/8/layout/vList5"/>
    <dgm:cxn modelId="{0B406D86-16A5-4C4D-BE17-028512FFC6CF}" srcId="{872555AD-3183-4905-943D-B4C028149C46}" destId="{308F1F9E-5611-4C37-945F-7A3389B0348A}" srcOrd="1" destOrd="0" parTransId="{0E0F7813-78BF-4CE0-910A-5587B0CF39F6}" sibTransId="{3B33B84B-1D4F-4046-A025-5660051E2B6B}"/>
    <dgm:cxn modelId="{154074A0-10C9-424A-87D4-43820EDBE25E}" srcId="{872555AD-3183-4905-943D-B4C028149C46}" destId="{37A017BF-161B-4475-BFD4-1DE9ACE393A3}" srcOrd="2" destOrd="0" parTransId="{1F654E1E-4144-4954-BBAE-A758D7C8094B}" sibTransId="{32AEF805-62AC-4120-B27C-83E75B4D3D80}"/>
    <dgm:cxn modelId="{BA8269AB-FC73-3249-B63E-5A204B500FF4}" type="presOf" srcId="{37A017BF-161B-4475-BFD4-1DE9ACE393A3}" destId="{14A68E11-EB6E-A84C-9505-8166F366BE4C}" srcOrd="0" destOrd="0" presId="urn:microsoft.com/office/officeart/2005/8/layout/vList5"/>
    <dgm:cxn modelId="{E612C484-E83C-BC4C-8723-26F934909499}" type="presParOf" srcId="{796D0228-B3B3-6544-BC37-608039A12C8F}" destId="{58EB60D8-DAF4-0C4A-B24B-342157AECAFD}" srcOrd="0" destOrd="0" presId="urn:microsoft.com/office/officeart/2005/8/layout/vList5"/>
    <dgm:cxn modelId="{9544CA9D-6798-BB4B-8FB5-15CCB961DFC7}" type="presParOf" srcId="{58EB60D8-DAF4-0C4A-B24B-342157AECAFD}" destId="{5223607F-65C5-1246-A0FF-6B3426FB92CC}" srcOrd="0" destOrd="0" presId="urn:microsoft.com/office/officeart/2005/8/layout/vList5"/>
    <dgm:cxn modelId="{EF0974D8-F5B8-274E-8415-B0E98A54AE8F}" type="presParOf" srcId="{796D0228-B3B3-6544-BC37-608039A12C8F}" destId="{898CFB2B-5137-D34B-84E8-6FE92EA1FD2F}" srcOrd="1" destOrd="0" presId="urn:microsoft.com/office/officeart/2005/8/layout/vList5"/>
    <dgm:cxn modelId="{3210608A-0E6E-1D4E-B5F0-330D64A86AC0}" type="presParOf" srcId="{796D0228-B3B3-6544-BC37-608039A12C8F}" destId="{BB39F68F-AD55-3A44-AC88-6921A0A181B5}" srcOrd="2" destOrd="0" presId="urn:microsoft.com/office/officeart/2005/8/layout/vList5"/>
    <dgm:cxn modelId="{31FCC538-A814-2744-850B-0FE4DEEA89F8}" type="presParOf" srcId="{BB39F68F-AD55-3A44-AC88-6921A0A181B5}" destId="{ADB4B613-7A4C-2C45-A59C-FE0DB28DA7FD}" srcOrd="0" destOrd="0" presId="urn:microsoft.com/office/officeart/2005/8/layout/vList5"/>
    <dgm:cxn modelId="{35912240-E46E-D141-AD93-862BEA975990}" type="presParOf" srcId="{796D0228-B3B3-6544-BC37-608039A12C8F}" destId="{AE904475-E766-3B41-AACC-5377AC163B51}" srcOrd="3" destOrd="0" presId="urn:microsoft.com/office/officeart/2005/8/layout/vList5"/>
    <dgm:cxn modelId="{0370C53C-81F5-8644-8028-7AE1B263A701}" type="presParOf" srcId="{796D0228-B3B3-6544-BC37-608039A12C8F}" destId="{A6CFB694-1C7F-DA4E-96A4-D210E2A0BF16}" srcOrd="4" destOrd="0" presId="urn:microsoft.com/office/officeart/2005/8/layout/vList5"/>
    <dgm:cxn modelId="{F584D09D-F7D7-6A49-9C41-5917A81853E3}" type="presParOf" srcId="{A6CFB694-1C7F-DA4E-96A4-D210E2A0BF16}" destId="{14A68E11-EB6E-A84C-9505-8166F366BE4C}" srcOrd="0" destOrd="0" presId="urn:microsoft.com/office/officeart/2005/8/layout/vList5"/>
    <dgm:cxn modelId="{95AC93B5-B4C4-F940-A8D6-C38A28F6985F}" type="presParOf" srcId="{796D0228-B3B3-6544-BC37-608039A12C8F}" destId="{46882296-A6EF-E045-8F65-C6E9E81839D6}" srcOrd="5" destOrd="0" presId="urn:microsoft.com/office/officeart/2005/8/layout/vList5"/>
    <dgm:cxn modelId="{561D9462-3D4B-B344-B298-D61BC95BA0BE}" type="presParOf" srcId="{796D0228-B3B3-6544-BC37-608039A12C8F}" destId="{A8C4615D-C0CF-D64E-8F5E-3225318134DD}" srcOrd="6" destOrd="0" presId="urn:microsoft.com/office/officeart/2005/8/layout/vList5"/>
    <dgm:cxn modelId="{8D6927B1-E44C-A242-8BE2-BD838DD3DD42}" type="presParOf" srcId="{A8C4615D-C0CF-D64E-8F5E-3225318134DD}" destId="{59673D5F-90A4-CD45-8119-439DED256DD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A0CDAA-F8C4-4B37-9BB6-E2804362A5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262531A-9C33-4753-982C-03695A7A24B3}">
      <dgm:prSet/>
      <dgm:spPr/>
      <dgm:t>
        <a:bodyPr/>
        <a:lstStyle/>
        <a:p>
          <a:r>
            <a:rPr lang="en-US" dirty="0"/>
            <a:t>Implemented and evaluated ANN, CNN, and ADNEI on Fashion-MNIST.</a:t>
          </a:r>
        </a:p>
      </dgm:t>
    </dgm:pt>
    <dgm:pt modelId="{66975D73-AB3A-473D-9479-F0FE3BC0B2C0}" type="parTrans" cxnId="{9BAFD4AE-65F9-4C24-968F-E5DDDE04C3CE}">
      <dgm:prSet/>
      <dgm:spPr/>
      <dgm:t>
        <a:bodyPr/>
        <a:lstStyle/>
        <a:p>
          <a:endParaRPr lang="en-US"/>
        </a:p>
      </dgm:t>
    </dgm:pt>
    <dgm:pt modelId="{F2B3A377-B499-4502-9FDC-C7AC674ED870}" type="sibTrans" cxnId="{9BAFD4AE-65F9-4C24-968F-E5DDDE04C3CE}">
      <dgm:prSet/>
      <dgm:spPr/>
      <dgm:t>
        <a:bodyPr/>
        <a:lstStyle/>
        <a:p>
          <a:endParaRPr lang="en-US"/>
        </a:p>
      </dgm:t>
    </dgm:pt>
    <dgm:pt modelId="{D853E779-14F7-4E3B-BA9F-103EF2563EDB}">
      <dgm:prSet/>
      <dgm:spPr/>
      <dgm:t>
        <a:bodyPr/>
        <a:lstStyle/>
        <a:p>
          <a:r>
            <a:rPr lang="en-US" dirty="0"/>
            <a:t>CNN achieved the highest accuracy (90.01 %).</a:t>
          </a:r>
        </a:p>
      </dgm:t>
    </dgm:pt>
    <dgm:pt modelId="{B3219CDF-054F-4074-9756-C9864F5EBAE1}" type="parTrans" cxnId="{017689E6-6A12-4AA7-978B-53D0186FB598}">
      <dgm:prSet/>
      <dgm:spPr/>
      <dgm:t>
        <a:bodyPr/>
        <a:lstStyle/>
        <a:p>
          <a:endParaRPr lang="en-US"/>
        </a:p>
      </dgm:t>
    </dgm:pt>
    <dgm:pt modelId="{35B92021-6953-4FE0-A7A2-375FE362C68B}" type="sibTrans" cxnId="{017689E6-6A12-4AA7-978B-53D0186FB598}">
      <dgm:prSet/>
      <dgm:spPr/>
      <dgm:t>
        <a:bodyPr/>
        <a:lstStyle/>
        <a:p>
          <a:endParaRPr lang="en-US"/>
        </a:p>
      </dgm:t>
    </dgm:pt>
    <dgm:pt modelId="{E519228C-A5ED-4B0D-80EB-D3454018A21F}">
      <dgm:prSet/>
      <dgm:spPr/>
      <dgm:t>
        <a:bodyPr/>
        <a:lstStyle/>
        <a:p>
          <a:r>
            <a:rPr lang="en-US" dirty="0"/>
            <a:t>ADNEI provided better metric balance and model stability.</a:t>
          </a:r>
        </a:p>
      </dgm:t>
    </dgm:pt>
    <dgm:pt modelId="{D33A4479-5CB6-4450-B27F-28E395E11A5D}" type="parTrans" cxnId="{F3C62B92-010A-4ADD-85BA-BBA1F1D8147C}">
      <dgm:prSet/>
      <dgm:spPr/>
      <dgm:t>
        <a:bodyPr/>
        <a:lstStyle/>
        <a:p>
          <a:endParaRPr lang="en-US"/>
        </a:p>
      </dgm:t>
    </dgm:pt>
    <dgm:pt modelId="{FCC63FD8-19EC-4FAC-BB9F-B66EA99E4040}" type="sibTrans" cxnId="{F3C62B92-010A-4ADD-85BA-BBA1F1D8147C}">
      <dgm:prSet/>
      <dgm:spPr/>
      <dgm:t>
        <a:bodyPr/>
        <a:lstStyle/>
        <a:p>
          <a:endParaRPr lang="en-US"/>
        </a:p>
      </dgm:t>
    </dgm:pt>
    <dgm:pt modelId="{E892C04B-9CDD-4187-A3D1-759E36079983}">
      <dgm:prSet/>
      <dgm:spPr/>
      <dgm:t>
        <a:bodyPr/>
        <a:lstStyle/>
        <a:p>
          <a:r>
            <a:rPr lang="en-US"/>
            <a:t>Ensemble approach validated for robust image classification.</a:t>
          </a:r>
        </a:p>
      </dgm:t>
    </dgm:pt>
    <dgm:pt modelId="{923BD524-7D3F-40CA-AF25-9575593D4CA9}" type="parTrans" cxnId="{0EE1A13E-E172-4DDF-9A6E-E6735112D5EE}">
      <dgm:prSet/>
      <dgm:spPr/>
      <dgm:t>
        <a:bodyPr/>
        <a:lstStyle/>
        <a:p>
          <a:endParaRPr lang="en-US"/>
        </a:p>
      </dgm:t>
    </dgm:pt>
    <dgm:pt modelId="{960D3A14-2A25-471E-B6B6-A188A61DB194}" type="sibTrans" cxnId="{0EE1A13E-E172-4DDF-9A6E-E6735112D5EE}">
      <dgm:prSet/>
      <dgm:spPr/>
      <dgm:t>
        <a:bodyPr/>
        <a:lstStyle/>
        <a:p>
          <a:endParaRPr lang="en-US"/>
        </a:p>
      </dgm:t>
    </dgm:pt>
    <dgm:pt modelId="{6114C0D8-0724-4A32-BE57-8CD5DB79F701}">
      <dgm:prSet/>
      <dgm:spPr/>
      <dgm:t>
        <a:bodyPr/>
        <a:lstStyle/>
        <a:p>
          <a:r>
            <a:rPr lang="en-US"/>
            <a:t>Results highlight the benefits of adaptive deep learning integration.</a:t>
          </a:r>
        </a:p>
      </dgm:t>
    </dgm:pt>
    <dgm:pt modelId="{E18262A6-7925-4529-AB09-2B7D170FE1EE}" type="parTrans" cxnId="{11B3BCA3-E1C7-4CCF-ADFB-0EBFE6FE748F}">
      <dgm:prSet/>
      <dgm:spPr/>
      <dgm:t>
        <a:bodyPr/>
        <a:lstStyle/>
        <a:p>
          <a:endParaRPr lang="en-US"/>
        </a:p>
      </dgm:t>
    </dgm:pt>
    <dgm:pt modelId="{FA6D3374-E620-4986-A1EB-53B2225D4DAD}" type="sibTrans" cxnId="{11B3BCA3-E1C7-4CCF-ADFB-0EBFE6FE748F}">
      <dgm:prSet/>
      <dgm:spPr/>
      <dgm:t>
        <a:bodyPr/>
        <a:lstStyle/>
        <a:p>
          <a:endParaRPr lang="en-US"/>
        </a:p>
      </dgm:t>
    </dgm:pt>
    <dgm:pt modelId="{A0306D7C-3479-1248-8597-D3CC3501F193}" type="pres">
      <dgm:prSet presAssocID="{FAA0CDAA-F8C4-4B37-9BB6-E2804362A564}" presName="linear" presStyleCnt="0">
        <dgm:presLayoutVars>
          <dgm:animLvl val="lvl"/>
          <dgm:resizeHandles val="exact"/>
        </dgm:presLayoutVars>
      </dgm:prSet>
      <dgm:spPr/>
    </dgm:pt>
    <dgm:pt modelId="{E5F145B2-C995-754B-9718-CEAB82F07BEF}" type="pres">
      <dgm:prSet presAssocID="{6262531A-9C33-4753-982C-03695A7A24B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7E9F08E-627A-DB4D-A9D4-D4942F605CDA}" type="pres">
      <dgm:prSet presAssocID="{F2B3A377-B499-4502-9FDC-C7AC674ED870}" presName="spacer" presStyleCnt="0"/>
      <dgm:spPr/>
    </dgm:pt>
    <dgm:pt modelId="{94B5D018-8ACC-5B4D-B840-5264C2EC122E}" type="pres">
      <dgm:prSet presAssocID="{D853E779-14F7-4E3B-BA9F-103EF2563EDB}" presName="parentText" presStyleLbl="node1" presStyleIdx="1" presStyleCnt="5" custLinFactNeighborX="-30305" custLinFactNeighborY="56096">
        <dgm:presLayoutVars>
          <dgm:chMax val="0"/>
          <dgm:bulletEnabled val="1"/>
        </dgm:presLayoutVars>
      </dgm:prSet>
      <dgm:spPr/>
    </dgm:pt>
    <dgm:pt modelId="{B9528529-4175-A044-9059-A8312CE9F1E0}" type="pres">
      <dgm:prSet presAssocID="{35B92021-6953-4FE0-A7A2-375FE362C68B}" presName="spacer" presStyleCnt="0"/>
      <dgm:spPr/>
    </dgm:pt>
    <dgm:pt modelId="{C89CAE6D-6A60-034E-A405-907516701399}" type="pres">
      <dgm:prSet presAssocID="{E519228C-A5ED-4B0D-80EB-D3454018A21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F8C4CD4-4AAB-E44D-99C6-A815784E6D36}" type="pres">
      <dgm:prSet presAssocID="{FCC63FD8-19EC-4FAC-BB9F-B66EA99E4040}" presName="spacer" presStyleCnt="0"/>
      <dgm:spPr/>
    </dgm:pt>
    <dgm:pt modelId="{78A2615E-D8C4-4544-B803-A395391090A6}" type="pres">
      <dgm:prSet presAssocID="{E892C04B-9CDD-4187-A3D1-759E3607998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A966C12-1B07-2B4C-8C72-C4AF94966369}" type="pres">
      <dgm:prSet presAssocID="{960D3A14-2A25-471E-B6B6-A188A61DB194}" presName="spacer" presStyleCnt="0"/>
      <dgm:spPr/>
    </dgm:pt>
    <dgm:pt modelId="{AC6249FE-E14F-1B47-AF48-614096D07DC2}" type="pres">
      <dgm:prSet presAssocID="{6114C0D8-0724-4A32-BE57-8CD5DB79F70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280C113-C8FB-3042-A99F-202F72FE8A47}" type="presOf" srcId="{E519228C-A5ED-4B0D-80EB-D3454018A21F}" destId="{C89CAE6D-6A60-034E-A405-907516701399}" srcOrd="0" destOrd="0" presId="urn:microsoft.com/office/officeart/2005/8/layout/vList2"/>
    <dgm:cxn modelId="{3D44FE23-EE07-6F40-A8D9-987CA32E4472}" type="presOf" srcId="{E892C04B-9CDD-4187-A3D1-759E36079983}" destId="{78A2615E-D8C4-4544-B803-A395391090A6}" srcOrd="0" destOrd="0" presId="urn:microsoft.com/office/officeart/2005/8/layout/vList2"/>
    <dgm:cxn modelId="{F384C72F-65E3-6540-84CD-E5C9C9CB9DDF}" type="presOf" srcId="{6262531A-9C33-4753-982C-03695A7A24B3}" destId="{E5F145B2-C995-754B-9718-CEAB82F07BEF}" srcOrd="0" destOrd="0" presId="urn:microsoft.com/office/officeart/2005/8/layout/vList2"/>
    <dgm:cxn modelId="{55535136-F2EE-584C-B732-64A41AA93289}" type="presOf" srcId="{D853E779-14F7-4E3B-BA9F-103EF2563EDB}" destId="{94B5D018-8ACC-5B4D-B840-5264C2EC122E}" srcOrd="0" destOrd="0" presId="urn:microsoft.com/office/officeart/2005/8/layout/vList2"/>
    <dgm:cxn modelId="{0EE1A13E-E172-4DDF-9A6E-E6735112D5EE}" srcId="{FAA0CDAA-F8C4-4B37-9BB6-E2804362A564}" destId="{E892C04B-9CDD-4187-A3D1-759E36079983}" srcOrd="3" destOrd="0" parTransId="{923BD524-7D3F-40CA-AF25-9575593D4CA9}" sibTransId="{960D3A14-2A25-471E-B6B6-A188A61DB194}"/>
    <dgm:cxn modelId="{FC9AE776-B4E0-B243-979D-A6346FA88C6D}" type="presOf" srcId="{6114C0D8-0724-4A32-BE57-8CD5DB79F701}" destId="{AC6249FE-E14F-1B47-AF48-614096D07DC2}" srcOrd="0" destOrd="0" presId="urn:microsoft.com/office/officeart/2005/8/layout/vList2"/>
    <dgm:cxn modelId="{975AC477-F9B9-4543-946E-98FB4616C9CD}" type="presOf" srcId="{FAA0CDAA-F8C4-4B37-9BB6-E2804362A564}" destId="{A0306D7C-3479-1248-8597-D3CC3501F193}" srcOrd="0" destOrd="0" presId="urn:microsoft.com/office/officeart/2005/8/layout/vList2"/>
    <dgm:cxn modelId="{F3C62B92-010A-4ADD-85BA-BBA1F1D8147C}" srcId="{FAA0CDAA-F8C4-4B37-9BB6-E2804362A564}" destId="{E519228C-A5ED-4B0D-80EB-D3454018A21F}" srcOrd="2" destOrd="0" parTransId="{D33A4479-5CB6-4450-B27F-28E395E11A5D}" sibTransId="{FCC63FD8-19EC-4FAC-BB9F-B66EA99E4040}"/>
    <dgm:cxn modelId="{11B3BCA3-E1C7-4CCF-ADFB-0EBFE6FE748F}" srcId="{FAA0CDAA-F8C4-4B37-9BB6-E2804362A564}" destId="{6114C0D8-0724-4A32-BE57-8CD5DB79F701}" srcOrd="4" destOrd="0" parTransId="{E18262A6-7925-4529-AB09-2B7D170FE1EE}" sibTransId="{FA6D3374-E620-4986-A1EB-53B2225D4DAD}"/>
    <dgm:cxn modelId="{9BAFD4AE-65F9-4C24-968F-E5DDDE04C3CE}" srcId="{FAA0CDAA-F8C4-4B37-9BB6-E2804362A564}" destId="{6262531A-9C33-4753-982C-03695A7A24B3}" srcOrd="0" destOrd="0" parTransId="{66975D73-AB3A-473D-9479-F0FE3BC0B2C0}" sibTransId="{F2B3A377-B499-4502-9FDC-C7AC674ED870}"/>
    <dgm:cxn modelId="{017689E6-6A12-4AA7-978B-53D0186FB598}" srcId="{FAA0CDAA-F8C4-4B37-9BB6-E2804362A564}" destId="{D853E779-14F7-4E3B-BA9F-103EF2563EDB}" srcOrd="1" destOrd="0" parTransId="{B3219CDF-054F-4074-9756-C9864F5EBAE1}" sibTransId="{35B92021-6953-4FE0-A7A2-375FE362C68B}"/>
    <dgm:cxn modelId="{66C1C51E-1B44-FF43-868C-590AB80FB94A}" type="presParOf" srcId="{A0306D7C-3479-1248-8597-D3CC3501F193}" destId="{E5F145B2-C995-754B-9718-CEAB82F07BEF}" srcOrd="0" destOrd="0" presId="urn:microsoft.com/office/officeart/2005/8/layout/vList2"/>
    <dgm:cxn modelId="{426ADBDE-AFB7-F641-9189-1BF5DCD8AC7A}" type="presParOf" srcId="{A0306D7C-3479-1248-8597-D3CC3501F193}" destId="{47E9F08E-627A-DB4D-A9D4-D4942F605CDA}" srcOrd="1" destOrd="0" presId="urn:microsoft.com/office/officeart/2005/8/layout/vList2"/>
    <dgm:cxn modelId="{AC990B77-E660-B549-AE0D-1004151CD961}" type="presParOf" srcId="{A0306D7C-3479-1248-8597-D3CC3501F193}" destId="{94B5D018-8ACC-5B4D-B840-5264C2EC122E}" srcOrd="2" destOrd="0" presId="urn:microsoft.com/office/officeart/2005/8/layout/vList2"/>
    <dgm:cxn modelId="{B6E68CBA-7821-EF48-BEF7-F53A5E2A81C2}" type="presParOf" srcId="{A0306D7C-3479-1248-8597-D3CC3501F193}" destId="{B9528529-4175-A044-9059-A8312CE9F1E0}" srcOrd="3" destOrd="0" presId="urn:microsoft.com/office/officeart/2005/8/layout/vList2"/>
    <dgm:cxn modelId="{B52A9451-674E-874D-A7CD-68439DEF77B6}" type="presParOf" srcId="{A0306D7C-3479-1248-8597-D3CC3501F193}" destId="{C89CAE6D-6A60-034E-A405-907516701399}" srcOrd="4" destOrd="0" presId="urn:microsoft.com/office/officeart/2005/8/layout/vList2"/>
    <dgm:cxn modelId="{68C8C2F8-C5EB-A94D-BE5B-AEFDC2F961D1}" type="presParOf" srcId="{A0306D7C-3479-1248-8597-D3CC3501F193}" destId="{CF8C4CD4-4AAB-E44D-99C6-A815784E6D36}" srcOrd="5" destOrd="0" presId="urn:microsoft.com/office/officeart/2005/8/layout/vList2"/>
    <dgm:cxn modelId="{92C256DD-2274-6542-9A13-B7F3F0AE39A1}" type="presParOf" srcId="{A0306D7C-3479-1248-8597-D3CC3501F193}" destId="{78A2615E-D8C4-4544-B803-A395391090A6}" srcOrd="6" destOrd="0" presId="urn:microsoft.com/office/officeart/2005/8/layout/vList2"/>
    <dgm:cxn modelId="{62CA51DB-3BD3-0C49-A970-D474BBE06D43}" type="presParOf" srcId="{A0306D7C-3479-1248-8597-D3CC3501F193}" destId="{2A966C12-1B07-2B4C-8C72-C4AF94966369}" srcOrd="7" destOrd="0" presId="urn:microsoft.com/office/officeart/2005/8/layout/vList2"/>
    <dgm:cxn modelId="{27A42CC9-5699-7948-A5A0-1B1F3FA36341}" type="presParOf" srcId="{A0306D7C-3479-1248-8597-D3CC3501F193}" destId="{AC6249FE-E14F-1B47-AF48-614096D07DC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B3D81E-92E6-431B-BAB5-1C1FE772E861}">
      <dsp:nvSpPr>
        <dsp:cNvPr id="0" name=""/>
        <dsp:cNvSpPr/>
      </dsp:nvSpPr>
      <dsp:spPr>
        <a:xfrm>
          <a:off x="0" y="2315"/>
          <a:ext cx="6506304" cy="11733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AD20A2-3BB6-43BD-BAA7-E890C29B7444}">
      <dsp:nvSpPr>
        <dsp:cNvPr id="0" name=""/>
        <dsp:cNvSpPr/>
      </dsp:nvSpPr>
      <dsp:spPr>
        <a:xfrm>
          <a:off x="354925" y="266309"/>
          <a:ext cx="645319" cy="6453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AAB57-AD8F-47A9-8224-F755E6E886CD}">
      <dsp:nvSpPr>
        <dsp:cNvPr id="0" name=""/>
        <dsp:cNvSpPr/>
      </dsp:nvSpPr>
      <dsp:spPr>
        <a:xfrm>
          <a:off x="1355170" y="2315"/>
          <a:ext cx="5151133" cy="1173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75" tIns="124175" rIns="124175" bIns="1241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Trained </a:t>
          </a:r>
          <a:r>
            <a:rPr lang="en-US" sz="2200" b="1" kern="1200"/>
            <a:t>ANN</a:t>
          </a:r>
          <a:r>
            <a:rPr lang="en-US" sz="2200" kern="1200"/>
            <a:t> and </a:t>
          </a:r>
          <a:r>
            <a:rPr lang="en-US" sz="2200" b="1" kern="1200"/>
            <a:t>CNN</a:t>
          </a:r>
          <a:r>
            <a:rPr lang="en-US" sz="2200" kern="1200"/>
            <a:t> separately for 15 epochs.</a:t>
          </a:r>
        </a:p>
      </dsp:txBody>
      <dsp:txXfrm>
        <a:off x="1355170" y="2315"/>
        <a:ext cx="5151133" cy="1173307"/>
      </dsp:txXfrm>
    </dsp:sp>
    <dsp:sp modelId="{054B2A92-FC58-466C-AF76-9C9D51932CAB}">
      <dsp:nvSpPr>
        <dsp:cNvPr id="0" name=""/>
        <dsp:cNvSpPr/>
      </dsp:nvSpPr>
      <dsp:spPr>
        <a:xfrm>
          <a:off x="0" y="1468949"/>
          <a:ext cx="6506304" cy="11733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5C1118-EA87-4F51-913D-2F36BAB16ED7}">
      <dsp:nvSpPr>
        <dsp:cNvPr id="0" name=""/>
        <dsp:cNvSpPr/>
      </dsp:nvSpPr>
      <dsp:spPr>
        <a:xfrm>
          <a:off x="354925" y="1732943"/>
          <a:ext cx="645319" cy="64531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DA8A37-801D-48B9-B2D0-B6D98E388D9B}">
      <dsp:nvSpPr>
        <dsp:cNvPr id="0" name=""/>
        <dsp:cNvSpPr/>
      </dsp:nvSpPr>
      <dsp:spPr>
        <a:xfrm>
          <a:off x="1355170" y="1468949"/>
          <a:ext cx="5151133" cy="1173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75" tIns="124175" rIns="124175" bIns="1241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Applied </a:t>
          </a:r>
          <a:r>
            <a:rPr lang="en-US" sz="2200" b="1" kern="1200"/>
            <a:t>XLA JIT</a:t>
          </a:r>
          <a:r>
            <a:rPr lang="en-US" sz="2200" kern="1200"/>
            <a:t> for faster computation.</a:t>
          </a:r>
        </a:p>
      </dsp:txBody>
      <dsp:txXfrm>
        <a:off x="1355170" y="1468949"/>
        <a:ext cx="5151133" cy="1173307"/>
      </dsp:txXfrm>
    </dsp:sp>
    <dsp:sp modelId="{53567CA1-016D-423A-BD57-266624992475}">
      <dsp:nvSpPr>
        <dsp:cNvPr id="0" name=""/>
        <dsp:cNvSpPr/>
      </dsp:nvSpPr>
      <dsp:spPr>
        <a:xfrm>
          <a:off x="0" y="2935583"/>
          <a:ext cx="6506304" cy="11733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8EC4F-ACA3-412F-B9B0-19E2C0C2F5F3}">
      <dsp:nvSpPr>
        <dsp:cNvPr id="0" name=""/>
        <dsp:cNvSpPr/>
      </dsp:nvSpPr>
      <dsp:spPr>
        <a:xfrm>
          <a:off x="354925" y="3199577"/>
          <a:ext cx="645319" cy="64531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F8CB0-5468-4D51-958B-F328D0AA6702}">
      <dsp:nvSpPr>
        <dsp:cNvPr id="0" name=""/>
        <dsp:cNvSpPr/>
      </dsp:nvSpPr>
      <dsp:spPr>
        <a:xfrm>
          <a:off x="1355170" y="2935583"/>
          <a:ext cx="5151133" cy="1173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75" tIns="124175" rIns="124175" bIns="1241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Used </a:t>
          </a:r>
          <a:r>
            <a:rPr lang="en-US" sz="2200" b="1" kern="1200"/>
            <a:t>validation accuracy</a:t>
          </a:r>
          <a:r>
            <a:rPr lang="en-US" sz="2200" kern="1200"/>
            <a:t> for model checkpointing.</a:t>
          </a:r>
        </a:p>
      </dsp:txBody>
      <dsp:txXfrm>
        <a:off x="1355170" y="2935583"/>
        <a:ext cx="5151133" cy="1173307"/>
      </dsp:txXfrm>
    </dsp:sp>
    <dsp:sp modelId="{FB5D521E-6CE1-49CE-AB11-E77A805B1B80}">
      <dsp:nvSpPr>
        <dsp:cNvPr id="0" name=""/>
        <dsp:cNvSpPr/>
      </dsp:nvSpPr>
      <dsp:spPr>
        <a:xfrm>
          <a:off x="0" y="4402217"/>
          <a:ext cx="6506304" cy="117330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5A12B-63F8-4A70-B394-6B26C5E30514}">
      <dsp:nvSpPr>
        <dsp:cNvPr id="0" name=""/>
        <dsp:cNvSpPr/>
      </dsp:nvSpPr>
      <dsp:spPr>
        <a:xfrm>
          <a:off x="354925" y="4666211"/>
          <a:ext cx="645319" cy="64531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839E2-D375-4A7B-8E20-FBE476B478F1}">
      <dsp:nvSpPr>
        <dsp:cNvPr id="0" name=""/>
        <dsp:cNvSpPr/>
      </dsp:nvSpPr>
      <dsp:spPr>
        <a:xfrm>
          <a:off x="1355170" y="4402217"/>
          <a:ext cx="5151133" cy="1173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175" tIns="124175" rIns="124175" bIns="1241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Generated plots for </a:t>
          </a:r>
          <a:r>
            <a:rPr lang="en-US" sz="2200" b="1" kern="1200"/>
            <a:t>loss/accuracy curves</a:t>
          </a:r>
          <a:r>
            <a:rPr lang="en-US" sz="2200" kern="1200"/>
            <a:t> and </a:t>
          </a:r>
          <a:r>
            <a:rPr lang="en-US" sz="2200" b="1" kern="1200"/>
            <a:t>confusion matrices</a:t>
          </a:r>
          <a:r>
            <a:rPr lang="en-US" sz="2200" kern="1200"/>
            <a:t>.</a:t>
          </a:r>
        </a:p>
      </dsp:txBody>
      <dsp:txXfrm>
        <a:off x="1355170" y="4402217"/>
        <a:ext cx="5151133" cy="11733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23607F-65C5-1246-A0FF-6B3426FB92CC}">
      <dsp:nvSpPr>
        <dsp:cNvPr id="0" name=""/>
        <dsp:cNvSpPr/>
      </dsp:nvSpPr>
      <dsp:spPr>
        <a:xfrm>
          <a:off x="3182737" y="1792"/>
          <a:ext cx="3580580" cy="862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ANN:</a:t>
          </a:r>
          <a:r>
            <a:rPr lang="en-US" sz="1800" kern="1200"/>
            <a:t> Captured generalised patterns but struggled with fine visual differences.</a:t>
          </a:r>
        </a:p>
      </dsp:txBody>
      <dsp:txXfrm>
        <a:off x="3224822" y="43877"/>
        <a:ext cx="3496410" cy="777954"/>
      </dsp:txXfrm>
    </dsp:sp>
    <dsp:sp modelId="{ADB4B613-7A4C-2C45-A59C-FE0DB28DA7FD}">
      <dsp:nvSpPr>
        <dsp:cNvPr id="0" name=""/>
        <dsp:cNvSpPr/>
      </dsp:nvSpPr>
      <dsp:spPr>
        <a:xfrm>
          <a:off x="3182737" y="907022"/>
          <a:ext cx="3580580" cy="862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CNN:</a:t>
          </a:r>
          <a:r>
            <a:rPr lang="en-US" sz="1800" kern="1200"/>
            <a:t> Excelled at spatial feature extraction and visual detail.</a:t>
          </a:r>
        </a:p>
      </dsp:txBody>
      <dsp:txXfrm>
        <a:off x="3224822" y="949107"/>
        <a:ext cx="3496410" cy="777954"/>
      </dsp:txXfrm>
    </dsp:sp>
    <dsp:sp modelId="{14A68E11-EB6E-A84C-9505-8166F366BE4C}">
      <dsp:nvSpPr>
        <dsp:cNvPr id="0" name=""/>
        <dsp:cNvSpPr/>
      </dsp:nvSpPr>
      <dsp:spPr>
        <a:xfrm>
          <a:off x="3182737" y="1812253"/>
          <a:ext cx="3580580" cy="862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ADNEI:</a:t>
          </a:r>
          <a:r>
            <a:rPr lang="en-US" sz="1800" kern="1200"/>
            <a:t> Combined both strengths → improved reliability and reduced error rate.</a:t>
          </a:r>
        </a:p>
      </dsp:txBody>
      <dsp:txXfrm>
        <a:off x="3224822" y="1854338"/>
        <a:ext cx="3496410" cy="777954"/>
      </dsp:txXfrm>
    </dsp:sp>
    <dsp:sp modelId="{59673D5F-90A4-CD45-8119-439DED256DD4}">
      <dsp:nvSpPr>
        <dsp:cNvPr id="0" name=""/>
        <dsp:cNvSpPr/>
      </dsp:nvSpPr>
      <dsp:spPr>
        <a:xfrm>
          <a:off x="3182737" y="2717483"/>
          <a:ext cx="3580580" cy="8621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Ensemble results demonstrate how </a:t>
          </a:r>
          <a:r>
            <a:rPr lang="en-US" sz="1800" b="1" kern="1200"/>
            <a:t>hybrid deep learning</a:t>
          </a:r>
          <a:r>
            <a:rPr lang="en-US" sz="1800" kern="1200"/>
            <a:t> enhances accuracy and stability.</a:t>
          </a:r>
        </a:p>
      </dsp:txBody>
      <dsp:txXfrm>
        <a:off x="3224822" y="2759568"/>
        <a:ext cx="3496410" cy="7779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145B2-C995-754B-9718-CEAB82F07BEF}">
      <dsp:nvSpPr>
        <dsp:cNvPr id="0" name=""/>
        <dsp:cNvSpPr/>
      </dsp:nvSpPr>
      <dsp:spPr>
        <a:xfrm>
          <a:off x="0" y="16521"/>
          <a:ext cx="10363826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Implemented and evaluated ANN, CNN, and ADNEI on Fashion-MNIST.</a:t>
          </a:r>
        </a:p>
      </dsp:txBody>
      <dsp:txXfrm>
        <a:off x="30071" y="46592"/>
        <a:ext cx="10303684" cy="555862"/>
      </dsp:txXfrm>
    </dsp:sp>
    <dsp:sp modelId="{94B5D018-8ACC-5B4D-B840-5264C2EC122E}">
      <dsp:nvSpPr>
        <dsp:cNvPr id="0" name=""/>
        <dsp:cNvSpPr/>
      </dsp:nvSpPr>
      <dsp:spPr>
        <a:xfrm>
          <a:off x="0" y="753906"/>
          <a:ext cx="10363826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CNN achieved the highest accuracy (90.01 %).</a:t>
          </a:r>
        </a:p>
      </dsp:txBody>
      <dsp:txXfrm>
        <a:off x="30071" y="783977"/>
        <a:ext cx="10303684" cy="555862"/>
      </dsp:txXfrm>
    </dsp:sp>
    <dsp:sp modelId="{C89CAE6D-6A60-034E-A405-907516701399}">
      <dsp:nvSpPr>
        <dsp:cNvPr id="0" name=""/>
        <dsp:cNvSpPr/>
      </dsp:nvSpPr>
      <dsp:spPr>
        <a:xfrm>
          <a:off x="0" y="1404051"/>
          <a:ext cx="10363826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ADNEI provided better metric balance and model stability.</a:t>
          </a:r>
        </a:p>
      </dsp:txBody>
      <dsp:txXfrm>
        <a:off x="30071" y="1434122"/>
        <a:ext cx="10303684" cy="555862"/>
      </dsp:txXfrm>
    </dsp:sp>
    <dsp:sp modelId="{78A2615E-D8C4-4544-B803-A395391090A6}">
      <dsp:nvSpPr>
        <dsp:cNvPr id="0" name=""/>
        <dsp:cNvSpPr/>
      </dsp:nvSpPr>
      <dsp:spPr>
        <a:xfrm>
          <a:off x="0" y="2097816"/>
          <a:ext cx="10363826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Ensemble approach validated for robust image classification.</a:t>
          </a:r>
        </a:p>
      </dsp:txBody>
      <dsp:txXfrm>
        <a:off x="30071" y="2127887"/>
        <a:ext cx="10303684" cy="555862"/>
      </dsp:txXfrm>
    </dsp:sp>
    <dsp:sp modelId="{AC6249FE-E14F-1B47-AF48-614096D07DC2}">
      <dsp:nvSpPr>
        <dsp:cNvPr id="0" name=""/>
        <dsp:cNvSpPr/>
      </dsp:nvSpPr>
      <dsp:spPr>
        <a:xfrm>
          <a:off x="0" y="2791580"/>
          <a:ext cx="10363826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Results highlight the benefits of adaptive deep learning integration.</a:t>
          </a:r>
        </a:p>
      </dsp:txBody>
      <dsp:txXfrm>
        <a:off x="30071" y="2821651"/>
        <a:ext cx="10303684" cy="555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557697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7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155636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8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7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04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60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25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1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82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062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68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241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25E7FABF-646D-8C42-87D6-D2C11D17A81F}" type="datetimeFigureOut">
              <a:rPr lang="en-US" smtClean="0"/>
              <a:t>11/4/25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3E0A0D3B-FA1F-404B-9A13-DBF94EDE8CD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34722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A7A7-C5C5-7B73-AF0E-F4019C2EF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1085576"/>
          </a:xfrm>
        </p:spPr>
        <p:txBody>
          <a:bodyPr>
            <a:normAutofit fontScale="90000"/>
          </a:bodyPr>
          <a:lstStyle/>
          <a:p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COMPARATIVE STUDY OF ANN,CNN AND ENSEMBLE MODELS ON THE </a:t>
            </a:r>
            <a:r>
              <a:rPr lang="en-US" sz="2800" b="1" i="0" u="none" strike="noStrike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FASHION- MNIST </a:t>
            </a: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DATASET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128C2-06E8-2186-B2ED-1522E4D67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5026" y="3767537"/>
            <a:ext cx="5007597" cy="2169437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Mohith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Nithin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Inavolu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p2896359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name: Artificial Neural Networks &amp; NLP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code: CSIP5103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Montfort university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04-11-2025</a:t>
            </a:r>
          </a:p>
        </p:txBody>
      </p:sp>
    </p:spTree>
    <p:extLst>
      <p:ext uri="{BB962C8B-B14F-4D97-AF65-F5344CB8AC3E}">
        <p14:creationId xmlns:p14="http://schemas.microsoft.com/office/powerpoint/2010/main" val="362583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F0DF5-DD62-6195-7E50-EBFA90B0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226" y="685800"/>
            <a:ext cx="9594574" cy="851452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026FD-E2C3-1A5A-0394-4F2D3B64AD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explores </a:t>
            </a:r>
            <a:r>
              <a:rPr lang="en-US" sz="18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image classification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the </a:t>
            </a:r>
            <a:r>
              <a:rPr lang="en-US" sz="18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fashion-</a:t>
            </a:r>
            <a:r>
              <a:rPr lang="en-US" sz="1800" b="1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dataset, which consists of 70,000 grayscale images across 10 fashion categories.</a:t>
            </a:r>
          </a:p>
          <a:p>
            <a:pPr algn="just"/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 project contrasts three architectures, ANN, CNN, and an adaptive deep neural ensemble integration (ADNEI) method to improve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generalisation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robustness to model interpretation</a:t>
            </a:r>
          </a:p>
          <a:p>
            <a:pPr algn="just"/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project aims to show how ensemble learning captures performance improvements in a representation by combining global and spatial features across models.</a:t>
            </a:r>
            <a:endParaRPr lang="en-US" sz="18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 models were trained to consistent accuracy with minimal overfitting through the use of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2.19 using the acceleration of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units.</a:t>
            </a:r>
            <a:endParaRPr lang="en-US" sz="18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project proposes intelligent visual recognition systems, which relate to retail analytics, recommendation systems, and intelligent image tagging.</a:t>
            </a:r>
            <a:endParaRPr lang="en-US" sz="1800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49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2E70-155E-6D87-7F9B-C9F0657C5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/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5AE7E-C517-CC29-921F-C34D18ECE2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implement an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specifically designed for fashion-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classification. </a:t>
            </a:r>
          </a:p>
          <a:p>
            <a:pPr algn="just"/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and implement an ensemble integration model, (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adnei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that integrates the output of a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ann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weighted soft voting. </a:t>
            </a:r>
          </a:p>
          <a:p>
            <a:pPr algn="just"/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model performance using particular metrics - accuracy, precision, recall and f1-score - such that comparison is possible.</a:t>
            </a:r>
          </a:p>
          <a:p>
            <a:pPr algn="just"/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how ensemble learning </a:t>
            </a:r>
            <a:r>
              <a:rPr lang="en-US" sz="1800" b="0" i="0" cap="none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stabilises</a:t>
            </a:r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predictions and reduces misclassification among visually similar apparel items.</a:t>
            </a:r>
          </a:p>
          <a:p>
            <a:pPr algn="just"/>
            <a:r>
              <a:rPr lang="en-US" sz="1800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explore how the proposed approach can be extended to broader ai applications such as healthcare diagnostics and fraud detection.</a:t>
            </a:r>
            <a:r>
              <a:rPr lang="en-US" b="0" i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09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E807223-DF88-4D6D-970E-08919E5E0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61D8973-EAA9-459A-AF59-BBB4233D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A25EF3-581F-5E68-9CFA-82925260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89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C5D1F-1018-048B-852E-09908326A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4743" y="2286000"/>
            <a:ext cx="5793475" cy="3581400"/>
          </a:xfrm>
        </p:spPr>
        <p:txBody>
          <a:bodyPr vert="horz" lIns="91440" tIns="45720" rIns="91440" bIns="45720" rtlCol="0">
            <a:normAutofit/>
          </a:bodyPr>
          <a:lstStyle/>
          <a:p>
            <a:pPr marL="384048" indent="-384048" algn="just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2.19 /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GPU acceleration (XLA JIT enabled).</a:t>
            </a:r>
          </a:p>
          <a:p>
            <a:pPr marL="384048" indent="-384048" algn="just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pixel values [0–1]; reshaped to 28×28 format.</a:t>
            </a:r>
          </a:p>
          <a:p>
            <a:pPr marL="384048" indent="-384048" algn="just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epochs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64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categorical cross-entropy.</a:t>
            </a:r>
          </a:p>
          <a:p>
            <a:pPr marL="384048" indent="-384048" algn="just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split: 50 000 train / 10 000 validation / 10 000 test.</a:t>
            </a:r>
          </a:p>
          <a:p>
            <a:pPr marL="384048" indent="-384048" algn="just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ADNEI Ensemble: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ANN &amp; CNN outputs via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soft-voting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4048" indent="-384048" algn="just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NumPy, Matplotlib (for curves &amp; confusion matrices).</a:t>
            </a:r>
          </a:p>
          <a:p>
            <a:pPr marL="384048" indent="-384048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  <a:buChar char="•"/>
            </a:pP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EA8A33-C0D0-416D-8359-724B8828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4188FE-C2DF-23E9-A900-D39EA168F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47"/>
          <a:stretch>
            <a:fillRect/>
          </a:stretch>
        </p:blipFill>
        <p:spPr>
          <a:xfrm>
            <a:off x="7612260" y="10"/>
            <a:ext cx="4579739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6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0EC47-069D-AEB0-2AC9-3E460F4B2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5135217" cy="104352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/ MATERIALS / INPUTS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578C6C-6AF5-AF58-C812-8BD35E675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2286000"/>
            <a:ext cx="3823252" cy="423407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84048" indent="-384048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Fashion-MNIST (by Zalando)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4048" indent="-384048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Grayscale images of size 28×28 pixels.</a:t>
            </a:r>
          </a:p>
          <a:p>
            <a:pPr marL="384048" indent="-384048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 categories (e.g., T-shirt/top, trouser, coat, sandal, sneaker).</a:t>
            </a:r>
          </a:p>
          <a:p>
            <a:pPr marL="384048" indent="-384048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classes → no bias in training.</a:t>
            </a:r>
          </a:p>
          <a:p>
            <a:pPr marL="384048" indent="-384048" algn="just"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loaded via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keras.datasets.fashion_mnist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84048" indent="-384048" algn="just">
              <a:buFont typeface="Arial" panose="020B0604020202020204" pitchFamily="34" charset="0"/>
              <a:buChar char="•"/>
            </a:pP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convergence speed &amp; model stability.</a:t>
            </a:r>
          </a:p>
          <a:p>
            <a:pPr marL="384048" indent="-384048" algn="l"/>
            <a:endParaRPr lang="en-US" sz="15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B9755A-C72A-A6C4-D9AD-A1E96AF708F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711686" y="2286000"/>
            <a:ext cx="6128393" cy="307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1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C9609-A8AF-411F-A9E0-C3B93C894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1BBB2F-4420-B663-BE66-08FC5FA7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5" y="639704"/>
            <a:ext cx="4068417" cy="5577840"/>
          </a:xfrm>
        </p:spPr>
        <p:txBody>
          <a:bodyPr anchor="ctr">
            <a:norm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/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A43AAD-BE80-69B8-946B-83969DCD635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33590334"/>
              </p:ext>
            </p:extLst>
          </p:nvPr>
        </p:nvGraphicFramePr>
        <p:xfrm>
          <a:off x="4901472" y="639705"/>
          <a:ext cx="6506304" cy="5577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8916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F692-FFD3-7CAE-EEFC-4B2C8247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09600"/>
            <a:ext cx="4705147" cy="755374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67F3326-B251-FF1E-FF9D-C8D1E1DEFAC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618921" y="2288758"/>
            <a:ext cx="6199187" cy="264491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D9E5E-9B19-C137-A578-3E56FADEF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8818" y="1961322"/>
            <a:ext cx="3935689" cy="3869635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Trained </a:t>
            </a:r>
            <a:r>
              <a:rPr lang="en-US" sz="1800" b="1" dirty="0"/>
              <a:t>ANN</a:t>
            </a:r>
            <a:r>
              <a:rPr lang="en-US" sz="1800" dirty="0"/>
              <a:t> and </a:t>
            </a:r>
            <a:r>
              <a:rPr lang="en-US" sz="1800" b="1" dirty="0"/>
              <a:t>CNN</a:t>
            </a:r>
            <a:r>
              <a:rPr lang="en-US" sz="1800" dirty="0"/>
              <a:t> separately for 15 epochs.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Applied </a:t>
            </a:r>
            <a:r>
              <a:rPr lang="en-US" sz="1800" b="1" dirty="0"/>
              <a:t>XLA JIT</a:t>
            </a:r>
            <a:r>
              <a:rPr lang="en-US" sz="1800" dirty="0"/>
              <a:t> for faster computation.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Used </a:t>
            </a:r>
            <a:r>
              <a:rPr lang="en-US" sz="1800" b="1" dirty="0"/>
              <a:t>validation accuracy</a:t>
            </a:r>
            <a:r>
              <a:rPr lang="en-US" sz="1800" dirty="0"/>
              <a:t> for model checkpointing.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Generated plots for </a:t>
            </a:r>
            <a:r>
              <a:rPr lang="en-US" sz="1800" b="1" dirty="0"/>
              <a:t>loss/accuracy curves</a:t>
            </a:r>
            <a:r>
              <a:rPr lang="en-US" sz="1800" dirty="0"/>
              <a:t> and </a:t>
            </a:r>
            <a:r>
              <a:rPr lang="en-US" sz="1800" b="1" dirty="0"/>
              <a:t>confusion matrices</a:t>
            </a:r>
            <a:r>
              <a:rPr lang="en-US" sz="1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230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4623-6225-9822-0DD2-6DAAD36F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/ FINDINGS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7BB023-F15B-C264-C0EC-25E910268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562" y="2286000"/>
            <a:ext cx="5072437" cy="3581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endParaRPr kumimoji="0" lang="en-US" altLang="en-US" b="0" i="0" u="none" strike="noStrike" cap="none" normalizeH="0" dirty="0">
              <a:ln>
                <a:noFill/>
              </a:ln>
              <a:solidFill>
                <a:schemeClr val="tx2"/>
              </a:solidFill>
              <a:effectLst/>
            </a:endParaRPr>
          </a:p>
          <a:p>
            <a:pPr marL="384048" marR="0" lvl="0" indent="-384048" algn="just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 showed best accuracy (90.01 %).</a:t>
            </a:r>
          </a:p>
          <a:p>
            <a:pPr marL="384048" marR="0" lvl="0" indent="-384048" algn="just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ADNEI offered more balanced performance across metrics.</a:t>
            </a:r>
          </a:p>
          <a:p>
            <a:pPr marL="384048" marR="0" lvl="0" indent="-384048" algn="just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Char char="•"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reduced confusion in similar classes (e.g., shirt vs coat).</a:t>
            </a:r>
          </a:p>
          <a:p>
            <a:pPr marL="384048" marR="0" lvl="0" indent="-384048" defTabSz="914400" fontAlgn="base">
              <a:lnSpc>
                <a:spcPct val="94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 typeface="Franklin Gothic Book" panose="020B0503020102020204" pitchFamily="34" charset="0"/>
              <a:buNone/>
              <a:tabLst/>
            </a:pPr>
            <a:endParaRPr kumimoji="0" lang="en-US" altLang="en-US" b="0" i="0" u="none" strike="noStrike" cap="none" normalizeH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063593-BD62-3D94-7D05-6599BB10C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09986"/>
              </p:ext>
            </p:extLst>
          </p:nvPr>
        </p:nvGraphicFramePr>
        <p:xfrm>
          <a:off x="6411641" y="3280167"/>
          <a:ext cx="5105447" cy="168275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05366">
                  <a:extLst>
                    <a:ext uri="{9D8B030D-6E8A-4147-A177-3AD203B41FA5}">
                      <a16:colId xmlns:a16="http://schemas.microsoft.com/office/drawing/2014/main" val="2768223919"/>
                    </a:ext>
                  </a:extLst>
                </a:gridCol>
                <a:gridCol w="1438601">
                  <a:extLst>
                    <a:ext uri="{9D8B030D-6E8A-4147-A177-3AD203B41FA5}">
                      <a16:colId xmlns:a16="http://schemas.microsoft.com/office/drawing/2014/main" val="3817690634"/>
                    </a:ext>
                  </a:extLst>
                </a:gridCol>
                <a:gridCol w="1120929">
                  <a:extLst>
                    <a:ext uri="{9D8B030D-6E8A-4147-A177-3AD203B41FA5}">
                      <a16:colId xmlns:a16="http://schemas.microsoft.com/office/drawing/2014/main" val="954191733"/>
                    </a:ext>
                  </a:extLst>
                </a:gridCol>
                <a:gridCol w="848639">
                  <a:extLst>
                    <a:ext uri="{9D8B030D-6E8A-4147-A177-3AD203B41FA5}">
                      <a16:colId xmlns:a16="http://schemas.microsoft.com/office/drawing/2014/main" val="2623990523"/>
                    </a:ext>
                  </a:extLst>
                </a:gridCol>
                <a:gridCol w="791912">
                  <a:extLst>
                    <a:ext uri="{9D8B030D-6E8A-4147-A177-3AD203B41FA5}">
                      <a16:colId xmlns:a16="http://schemas.microsoft.com/office/drawing/2014/main" val="2578902563"/>
                    </a:ext>
                  </a:extLst>
                </a:gridCol>
              </a:tblGrid>
              <a:tr h="604485">
                <a:tc>
                  <a:txBody>
                    <a:bodyPr/>
                    <a:lstStyle/>
                    <a:p>
                      <a:r>
                        <a:rPr lang="en-US" sz="1600"/>
                        <a:t>Model 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Accuracy(%)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Precision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Recall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F1 score</a:t>
                      </a:r>
                    </a:p>
                  </a:txBody>
                  <a:tcPr marL="81687" marR="81687" marT="40844" marB="40844"/>
                </a:tc>
                <a:extLst>
                  <a:ext uri="{0D108BD9-81ED-4DB2-BD59-A6C34878D82A}">
                    <a16:rowId xmlns:a16="http://schemas.microsoft.com/office/drawing/2014/main" val="4251136997"/>
                  </a:ext>
                </a:extLst>
              </a:tr>
              <a:tr h="359424">
                <a:tc>
                  <a:txBody>
                    <a:bodyPr/>
                    <a:lstStyle/>
                    <a:p>
                      <a:r>
                        <a:rPr lang="en-US" sz="1600"/>
                        <a:t>ANN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86.79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86.88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86.79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86.63</a:t>
                      </a:r>
                    </a:p>
                  </a:txBody>
                  <a:tcPr marL="81687" marR="81687" marT="40844" marB="40844"/>
                </a:tc>
                <a:extLst>
                  <a:ext uri="{0D108BD9-81ED-4DB2-BD59-A6C34878D82A}">
                    <a16:rowId xmlns:a16="http://schemas.microsoft.com/office/drawing/2014/main" val="4208058035"/>
                  </a:ext>
                </a:extLst>
              </a:tr>
              <a:tr h="359424">
                <a:tc>
                  <a:txBody>
                    <a:bodyPr/>
                    <a:lstStyle/>
                    <a:p>
                      <a:r>
                        <a:rPr lang="en-US" sz="1600"/>
                        <a:t>CNN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90.01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89.98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90.01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89.96</a:t>
                      </a:r>
                    </a:p>
                  </a:txBody>
                  <a:tcPr marL="81687" marR="81687" marT="40844" marB="40844"/>
                </a:tc>
                <a:extLst>
                  <a:ext uri="{0D108BD9-81ED-4DB2-BD59-A6C34878D82A}">
                    <a16:rowId xmlns:a16="http://schemas.microsoft.com/office/drawing/2014/main" val="1450925152"/>
                  </a:ext>
                </a:extLst>
              </a:tr>
              <a:tr h="359424">
                <a:tc>
                  <a:txBody>
                    <a:bodyPr/>
                    <a:lstStyle/>
                    <a:p>
                      <a:r>
                        <a:rPr lang="en-US" sz="1600"/>
                        <a:t>ADNEI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89.58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89.54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89.58</a:t>
                      </a:r>
                    </a:p>
                  </a:txBody>
                  <a:tcPr marL="81687" marR="81687" marT="40844" marB="40844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89.49</a:t>
                      </a:r>
                    </a:p>
                  </a:txBody>
                  <a:tcPr marL="81687" marR="81687" marT="40844" marB="40844"/>
                </a:tc>
                <a:extLst>
                  <a:ext uri="{0D108BD9-81ED-4DB2-BD59-A6C34878D82A}">
                    <a16:rowId xmlns:a16="http://schemas.microsoft.com/office/drawing/2014/main" val="2212256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49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1665A6-74DB-4F44-A6EF-F01205E87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00057-AB73-78A8-E4FF-5ABAC2B20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85800"/>
            <a:ext cx="10905066" cy="1485900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/ INTERPRETATION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8BC48B-40A4-2ECC-6798-31183AD4508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25835360"/>
              </p:ext>
            </p:extLst>
          </p:nvPr>
        </p:nvGraphicFramePr>
        <p:xfrm>
          <a:off x="1122972" y="2286000"/>
          <a:ext cx="9946056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798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9996-93D4-DB72-1C7D-4BFA86D9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/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9935A7-6EB8-9450-8E5A-9B91F9ACFCD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90971982"/>
              </p:ext>
            </p:extLst>
          </p:nvPr>
        </p:nvGraphicFramePr>
        <p:xfrm>
          <a:off x="913774" y="2367092"/>
          <a:ext cx="10363826" cy="3424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6844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74E6D-72B1-786D-C8EB-D7E97AF66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/ ACKNOWLEDGMENTS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6B3D0-7AAA-F649-8B97-D13AFFFFDF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learning-rate scheduling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accuracy.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(Grad-CAM)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interpretability of model decisions.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ADNEI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or attention-based models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complex datasets.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framework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AI applications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(fashion, healthcare, fraud detection).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Thanks to De Montfort University and TensorFlow open-source community.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51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488911C-0EC7-40A9-9BCB-CA8A66E46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023EA8-527A-4FA2-A71D-626F9127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0C46CD6-ADBB-41BC-8969-7C707D433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6C38415-998B-45FB-A12C-BD0B184CB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8D89F71-9459-4318-ACAE-874616C3A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462" y="968188"/>
            <a:ext cx="10194046" cy="4894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5B3D93-BB4D-B275-B1C6-1BCE7F565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827" y="1289918"/>
            <a:ext cx="5127315" cy="424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9368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135</TotalTime>
  <Words>707</Words>
  <Application>Microsoft Macintosh PowerPoint</Application>
  <PresentationFormat>Widescreen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Franklin Gothic Book</vt:lpstr>
      <vt:lpstr>Times New Roman</vt:lpstr>
      <vt:lpstr>Crop</vt:lpstr>
      <vt:lpstr>COMPARATIVE STUDY OF ANN,CNN AND ENSEMBLE MODELS ON THE FASHION- MNIST DATASET</vt:lpstr>
      <vt:lpstr>INTRODUCTION</vt:lpstr>
      <vt:lpstr>OBJECTIVES / GOALS</vt:lpstr>
      <vt:lpstr>METHODOLOGY / APPROACH</vt:lpstr>
      <vt:lpstr>DATA / MATERIALS / INPUTS</vt:lpstr>
      <vt:lpstr>IMPLEMENTATION / PROCESS</vt:lpstr>
      <vt:lpstr>IMPLEMENTATION</vt:lpstr>
      <vt:lpstr>RESULTS / FINDINGS</vt:lpstr>
      <vt:lpstr>DISCUSSION / INTERPRETATION</vt:lpstr>
      <vt:lpstr>CONCLUSION / SUMMARY</vt:lpstr>
      <vt:lpstr>FUTURE WORK / ACKNOWLEDGMENTS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mohith</dc:creator>
  <cp:lastModifiedBy>mohith</cp:lastModifiedBy>
  <cp:revision>2</cp:revision>
  <dcterms:created xsi:type="dcterms:W3CDTF">2025-11-04T13:23:07Z</dcterms:created>
  <dcterms:modified xsi:type="dcterms:W3CDTF">2025-11-04T15:38:24Z</dcterms:modified>
</cp:coreProperties>
</file>